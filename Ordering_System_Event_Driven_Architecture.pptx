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6a31055-95cb-cde5-61e1-ed1c24120c7f}">
          <p14:sldIdLst>
            <p14:sldId id="256"/>
          </p14:sldIdLst>
        </p14:section>
        <p14:section name="Problem" id="{29992559-929a-933a-6932-e1ffc8ea950d}">
          <p14:sldIdLst>
            <p14:sldId id="257"/>
            <p14:sldId id="258"/>
          </p14:sldIdLst>
        </p14:section>
        <p14:section name="Solution" id="{c47f7a9a-dc40-215f-2ea8-144e02374925}">
          <p14:sldIdLst>
            <p14:sldId id="259"/>
            <p14:sldId id="260"/>
          </p14:sldIdLst>
        </p14:section>
        <p14:section name="Wrap-up" id="{2888c942-4f00-7cfa-48f6-cd880333b5b5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Advanced Software Architecture Patterns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Ordering System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Event-Driven Microservices with Apache Kafka</a:t>
            </a:r>
            <a:endParaRPr lang="en-US" sz="2200" dirty="0"/>
          </a:p>
        </p:txBody>
      </p:sp>
      <p:sp>
        <p:nvSpPr>
          <p:cNvPr id="5" name="Service dot 1"/>
          <p:cNvSpPr/>
          <p:nvPr/>
        </p:nvSpPr>
        <p:spPr>
          <a:xfrm>
            <a:off x="640080" y="40233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rvice dot 2"/>
          <p:cNvSpPr/>
          <p:nvPr/>
        </p:nvSpPr>
        <p:spPr>
          <a:xfrm>
            <a:off x="1097280" y="402336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Service dot 3"/>
          <p:cNvSpPr/>
          <p:nvPr/>
        </p:nvSpPr>
        <p:spPr>
          <a:xfrm>
            <a:off x="1554480" y="402336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ervice dot 4"/>
          <p:cNvSpPr/>
          <p:nvPr/>
        </p:nvSpPr>
        <p:spPr>
          <a:xfrm>
            <a:off x="2011680" y="4023360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order, many operations</a:t>
            </a:r>
            <a:endParaRPr lang="en-US" sz="3200" dirty="0"/>
          </a:p>
        </p:txBody>
      </p:sp>
      <p:sp>
        <p:nvSpPr>
          <p:cNvPr id="3" name="Intro line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When a customer places an order, an online store must:</a:t>
            </a:r>
            <a:endParaRPr lang="en-US" sz="1600" dirty="0"/>
          </a:p>
        </p:txBody>
      </p:sp>
      <p:sp>
        <p:nvSpPr>
          <p:cNvPr id="4" name="Operation 1 box"/>
          <p:cNvSpPr/>
          <p:nvPr/>
        </p:nvSpPr>
        <p:spPr>
          <a:xfrm>
            <a:off x="457200" y="1828800"/>
            <a:ext cx="1517904" cy="1371600"/>
          </a:xfrm>
          <a:prstGeom prst="roundRect">
            <a:avLst>
              <a:gd name="adj" fmla="val 5333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" name="Operation 1 number"/>
          <p:cNvSpPr/>
          <p:nvPr/>
        </p:nvSpPr>
        <p:spPr>
          <a:xfrm>
            <a:off x="941832" y="20116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Operation 1 digit"/>
          <p:cNvSpPr txBox="1"/>
          <p:nvPr/>
        </p:nvSpPr>
        <p:spPr>
          <a:xfrm>
            <a:off x="94183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Operation 1 label"/>
          <p:cNvSpPr txBox="1"/>
          <p:nvPr/>
        </p:nvSpPr>
        <p:spPr>
          <a:xfrm>
            <a:off x="502920" y="265176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Create the order</a:t>
            </a:r>
            <a:endParaRPr lang="en-US" sz="1400" dirty="0"/>
          </a:p>
        </p:txBody>
      </p:sp>
      <p:sp>
        <p:nvSpPr>
          <p:cNvPr id="8" name="Operation 2 box"/>
          <p:cNvSpPr/>
          <p:nvPr/>
        </p:nvSpPr>
        <p:spPr>
          <a:xfrm>
            <a:off x="2139696" y="1828800"/>
            <a:ext cx="1517904" cy="1371600"/>
          </a:xfrm>
          <a:prstGeom prst="roundRect">
            <a:avLst>
              <a:gd name="adj" fmla="val 5333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Operation 2 number"/>
          <p:cNvSpPr/>
          <p:nvPr/>
        </p:nvSpPr>
        <p:spPr>
          <a:xfrm>
            <a:off x="2624328" y="20116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Operation 2 digit"/>
          <p:cNvSpPr txBox="1"/>
          <p:nvPr/>
        </p:nvSpPr>
        <p:spPr>
          <a:xfrm>
            <a:off x="262432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Operation 2 label"/>
          <p:cNvSpPr txBox="1"/>
          <p:nvPr/>
        </p:nvSpPr>
        <p:spPr>
          <a:xfrm>
            <a:off x="2185416" y="265176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Process payment</a:t>
            </a:r>
            <a:endParaRPr lang="en-US" sz="1400" dirty="0"/>
          </a:p>
        </p:txBody>
      </p:sp>
      <p:sp>
        <p:nvSpPr>
          <p:cNvPr id="12" name="Operation 3 box"/>
          <p:cNvSpPr/>
          <p:nvPr/>
        </p:nvSpPr>
        <p:spPr>
          <a:xfrm>
            <a:off x="3822192" y="1828800"/>
            <a:ext cx="1517904" cy="1371600"/>
          </a:xfrm>
          <a:prstGeom prst="roundRect">
            <a:avLst>
              <a:gd name="adj" fmla="val 5333"/>
            </a:avLst>
          </a:prstGeom>
          <a:solidFill>
            <a:schemeClr val="accent4">
              <a:alpha val="12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3" name="Operation 3 number"/>
          <p:cNvSpPr/>
          <p:nvPr/>
        </p:nvSpPr>
        <p:spPr>
          <a:xfrm>
            <a:off x="4306824" y="20116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Operation 3 digit"/>
          <p:cNvSpPr txBox="1"/>
          <p:nvPr/>
        </p:nvSpPr>
        <p:spPr>
          <a:xfrm>
            <a:off x="430682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Operation 3 label"/>
          <p:cNvSpPr txBox="1"/>
          <p:nvPr/>
        </p:nvSpPr>
        <p:spPr>
          <a:xfrm>
            <a:off x="3867912" y="265176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Update inventory</a:t>
            </a:r>
            <a:endParaRPr lang="en-US" sz="1400" dirty="0"/>
          </a:p>
        </p:txBody>
      </p:sp>
      <p:sp>
        <p:nvSpPr>
          <p:cNvPr id="16" name="Operation 4 box"/>
          <p:cNvSpPr/>
          <p:nvPr/>
        </p:nvSpPr>
        <p:spPr>
          <a:xfrm>
            <a:off x="5504688" y="1828800"/>
            <a:ext cx="1517904" cy="1371600"/>
          </a:xfrm>
          <a:prstGeom prst="roundRect">
            <a:avLst>
              <a:gd name="adj" fmla="val 5333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7" name="Operation 4 number"/>
          <p:cNvSpPr/>
          <p:nvPr/>
        </p:nvSpPr>
        <p:spPr>
          <a:xfrm>
            <a:off x="5989320" y="20116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Operation 4 digit"/>
          <p:cNvSpPr txBox="1"/>
          <p:nvPr/>
        </p:nvSpPr>
        <p:spPr>
          <a:xfrm>
            <a:off x="59893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Operation 4 label"/>
          <p:cNvSpPr txBox="1"/>
          <p:nvPr/>
        </p:nvSpPr>
        <p:spPr>
          <a:xfrm>
            <a:off x="5550408" y="265176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Notify the customer</a:t>
            </a:r>
            <a:endParaRPr lang="en-US" sz="1400" dirty="0"/>
          </a:p>
        </p:txBody>
      </p:sp>
      <p:sp>
        <p:nvSpPr>
          <p:cNvPr id="20" name="Operation 5 box"/>
          <p:cNvSpPr/>
          <p:nvPr/>
        </p:nvSpPr>
        <p:spPr>
          <a:xfrm>
            <a:off x="7187184" y="1828800"/>
            <a:ext cx="1517904" cy="1371600"/>
          </a:xfrm>
          <a:prstGeom prst="roundRect">
            <a:avLst>
              <a:gd name="adj" fmla="val 5333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1" name="Operation 5 number"/>
          <p:cNvSpPr/>
          <p:nvPr/>
        </p:nvSpPr>
        <p:spPr>
          <a:xfrm>
            <a:off x="7671816" y="20116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Operation 5 digit"/>
          <p:cNvSpPr txBox="1"/>
          <p:nvPr/>
        </p:nvSpPr>
        <p:spPr>
          <a:xfrm>
            <a:off x="7671816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Operation 5 label"/>
          <p:cNvSpPr txBox="1"/>
          <p:nvPr/>
        </p:nvSpPr>
        <p:spPr>
          <a:xfrm>
            <a:off x="7232904" y="265176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Etc.</a:t>
            </a:r>
            <a:endParaRPr lang="en-US" sz="1400" dirty="0"/>
          </a:p>
        </p:txBody>
      </p:sp>
      <p:sp>
        <p:nvSpPr>
          <p:cNvPr id="24" name="Question card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Question text"/>
          <p:cNvSpPr txBox="1"/>
          <p:nvPr/>
        </p:nvSpPr>
        <p:spPr>
          <a:xfrm>
            <a:off x="685800" y="3611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What happens if these operations are chained with synchronous service-to-service calls?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trouble with synchronous calls</a:t>
            </a:r>
            <a:endParaRPr lang="en-US" sz="3200" dirty="0"/>
          </a:p>
        </p:txBody>
      </p:sp>
      <p:sp>
        <p:nvSpPr>
          <p:cNvPr id="3" name="Order box"/>
          <p:cNvSpPr/>
          <p:nvPr/>
        </p:nvSpPr>
        <p:spPr>
          <a:xfrm>
            <a:off x="457200" y="128016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Order text"/>
          <p:cNvSpPr txBox="1"/>
          <p:nvPr/>
        </p:nvSpPr>
        <p:spPr>
          <a:xfrm>
            <a:off x="457200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Order</a:t>
            </a:r>
            <a:endParaRPr lang="en-US" sz="1600" dirty="0"/>
          </a:p>
        </p:txBody>
      </p:sp>
      <p:sp>
        <p:nvSpPr>
          <p:cNvPr id="5" name="Chain arrow 1"/>
          <p:cNvSpPr/>
          <p:nvPr/>
        </p:nvSpPr>
        <p:spPr>
          <a:xfrm>
            <a:off x="2240280" y="1600200"/>
            <a:ext cx="3383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Payment box"/>
          <p:cNvSpPr/>
          <p:nvPr/>
        </p:nvSpPr>
        <p:spPr>
          <a:xfrm>
            <a:off x="2624328" y="128016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" name="Payment text"/>
          <p:cNvSpPr txBox="1"/>
          <p:nvPr/>
        </p:nvSpPr>
        <p:spPr>
          <a:xfrm>
            <a:off x="2624328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Payment</a:t>
            </a:r>
            <a:endParaRPr lang="en-US" sz="1600" dirty="0"/>
          </a:p>
        </p:txBody>
      </p:sp>
      <p:sp>
        <p:nvSpPr>
          <p:cNvPr id="8" name="Chain arrow 2"/>
          <p:cNvSpPr/>
          <p:nvPr/>
        </p:nvSpPr>
        <p:spPr>
          <a:xfrm>
            <a:off x="4407408" y="1600200"/>
            <a:ext cx="3383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Inventory box"/>
          <p:cNvSpPr/>
          <p:nvPr/>
        </p:nvSpPr>
        <p:spPr>
          <a:xfrm>
            <a:off x="4791456" y="128016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4">
              <a:alpha val="12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0" name="Inventory text"/>
          <p:cNvSpPr txBox="1"/>
          <p:nvPr/>
        </p:nvSpPr>
        <p:spPr>
          <a:xfrm>
            <a:off x="4791456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Inventory</a:t>
            </a:r>
            <a:endParaRPr lang="en-US" sz="1600" dirty="0"/>
          </a:p>
        </p:txBody>
      </p:sp>
      <p:sp>
        <p:nvSpPr>
          <p:cNvPr id="11" name="Chain arrow 3"/>
          <p:cNvSpPr/>
          <p:nvPr/>
        </p:nvSpPr>
        <p:spPr>
          <a:xfrm>
            <a:off x="6574536" y="1600200"/>
            <a:ext cx="3383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Notification box"/>
          <p:cNvSpPr/>
          <p:nvPr/>
        </p:nvSpPr>
        <p:spPr>
          <a:xfrm>
            <a:off x="6958584" y="128016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3" name="Notification text"/>
          <p:cNvSpPr txBox="1"/>
          <p:nvPr/>
        </p:nvSpPr>
        <p:spPr>
          <a:xfrm>
            <a:off x="6958584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Notification</a:t>
            </a:r>
            <a:endParaRPr lang="en-US" sz="1600" dirty="0"/>
          </a:p>
        </p:txBody>
      </p:sp>
      <p:sp>
        <p:nvSpPr>
          <p:cNvPr id="14" name="Blocking card"/>
          <p:cNvSpPr/>
          <p:nvPr/>
        </p:nvSpPr>
        <p:spPr>
          <a:xfrm>
            <a:off x="457200" y="237744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locking heading"/>
          <p:cNvSpPr txBox="1"/>
          <p:nvPr/>
        </p:nvSpPr>
        <p:spPr>
          <a:xfrm>
            <a:off x="64008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Blocking</a:t>
            </a:r>
            <a:endParaRPr lang="en-US" sz="2000" dirty="0"/>
          </a:p>
        </p:txBody>
      </p:sp>
      <p:sp>
        <p:nvSpPr>
          <p:cNvPr id="16" name="Blocking body"/>
          <p:cNvSpPr txBox="1"/>
          <p:nvPr/>
        </p:nvSpPr>
        <p:spPr>
          <a:xfrm>
            <a:off x="640080" y="2971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service waits for the previous one. A slow or unavailable service increases response time or stalls the whole workflow.</a:t>
            </a:r>
            <a:endParaRPr lang="en-US" sz="1400" dirty="0"/>
          </a:p>
        </p:txBody>
      </p:sp>
      <p:sp>
        <p:nvSpPr>
          <p:cNvPr id="17" name="Tight coupling card"/>
          <p:cNvSpPr/>
          <p:nvPr/>
        </p:nvSpPr>
        <p:spPr>
          <a:xfrm>
            <a:off x="3291840" y="237744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ght coupling heading"/>
          <p:cNvSpPr txBox="1"/>
          <p:nvPr/>
        </p:nvSpPr>
        <p:spPr>
          <a:xfrm>
            <a:off x="347472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Tight coupling</a:t>
            </a:r>
            <a:endParaRPr lang="en-US" sz="2000" dirty="0"/>
          </a:p>
        </p:txBody>
      </p:sp>
      <p:sp>
        <p:nvSpPr>
          <p:cNvPr id="19" name="Tight coupling body"/>
          <p:cNvSpPr txBox="1"/>
          <p:nvPr/>
        </p:nvSpPr>
        <p:spPr>
          <a:xfrm>
            <a:off x="3474720" y="2971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Order Service must know which other services need to be called.</a:t>
            </a:r>
            <a:endParaRPr lang="en-US" sz="1400" dirty="0"/>
          </a:p>
        </p:txBody>
      </p:sp>
      <p:sp>
        <p:nvSpPr>
          <p:cNvPr id="20" name="Hard to extend card"/>
          <p:cNvSpPr/>
          <p:nvPr/>
        </p:nvSpPr>
        <p:spPr>
          <a:xfrm>
            <a:off x="6126480" y="237744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Hard to extend heading"/>
          <p:cNvSpPr txBox="1"/>
          <p:nvPr/>
        </p:nvSpPr>
        <p:spPr>
          <a:xfrm>
            <a:off x="630936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Hard to extend</a:t>
            </a:r>
            <a:endParaRPr lang="en-US" sz="2000" dirty="0"/>
          </a:p>
        </p:txBody>
      </p:sp>
      <p:sp>
        <p:nvSpPr>
          <p:cNvPr id="22" name="Hard to extend body"/>
          <p:cNvSpPr txBox="1"/>
          <p:nvPr/>
        </p:nvSpPr>
        <p:spPr>
          <a:xfrm>
            <a:off x="6309360" y="2971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Adding another operation, such as analytics, may require modifying the existing workflow.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Solution: event-driven microservices</a:t>
            </a:r>
            <a:endParaRPr lang="en-US" sz="3200" dirty="0"/>
          </a:p>
        </p:txBody>
      </p:sp>
      <p:sp>
        <p:nvSpPr>
          <p:cNvPr id="3" name="Solution bullets"/>
          <p:cNvSpPr txBox="1"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 Service publishes an OrderCreatedEvent instead of calling other services.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service reacts to events from Kafka topics and publishes its own event when done.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Decoupled in time: if a service is down, its events wait in Kafka and are processed after recovery.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flow is still sequential, but no service calls another directly.</a:t>
            </a:r>
            <a:endParaRPr lang="en-US" sz="1400" dirty="0"/>
          </a:p>
        </p:txBody>
      </p:sp>
      <p:sp>
        <p:nvSpPr>
          <p:cNvPr id="4" name="Client label"/>
          <p:cNvSpPr txBox="1"/>
          <p:nvPr/>
        </p:nvSpPr>
        <p:spPr>
          <a:xfrm>
            <a:off x="4572000" y="1188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Client: POST /orders</a:t>
            </a:r>
            <a:endParaRPr lang="en-US" sz="1100" dirty="0"/>
          </a:p>
        </p:txBody>
      </p:sp>
      <p:sp>
        <p:nvSpPr>
          <p:cNvPr id="5" name="Client arrow"/>
          <p:cNvSpPr/>
          <p:nvPr/>
        </p:nvSpPr>
        <p:spPr>
          <a:xfrm>
            <a:off x="5440680" y="1426464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Kafka box"/>
          <p:cNvSpPr/>
          <p:nvPr/>
        </p:nvSpPr>
        <p:spPr>
          <a:xfrm>
            <a:off x="6949440" y="1508760"/>
            <a:ext cx="1737360" cy="2743200"/>
          </a:xfrm>
          <a:prstGeom prst="roundRect">
            <a:avLst>
              <a:gd name="adj" fmla="val 4211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Kafka label"/>
          <p:cNvSpPr txBox="1"/>
          <p:nvPr/>
        </p:nvSpPr>
        <p:spPr>
          <a:xfrm>
            <a:off x="694944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Apache Kafka</a:t>
            </a:r>
            <a:endParaRPr lang="en-US" sz="1200" dirty="0"/>
          </a:p>
        </p:txBody>
      </p:sp>
      <p:sp>
        <p:nvSpPr>
          <p:cNvPr id="8" name="Order Service box"/>
          <p:cNvSpPr/>
          <p:nvPr/>
        </p:nvSpPr>
        <p:spPr>
          <a:xfrm>
            <a:off x="4572000" y="1572768"/>
            <a:ext cx="1737360" cy="512064"/>
          </a:xfrm>
          <a:prstGeom prst="roundRect">
            <a:avLst>
              <a:gd name="adj" fmla="val 14286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Order Service text"/>
          <p:cNvSpPr txBox="1"/>
          <p:nvPr/>
        </p:nvSpPr>
        <p:spPr>
          <a:xfrm>
            <a:off x="4572000" y="1572768"/>
            <a:ext cx="17373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Order Service</a:t>
            </a:r>
            <a:endParaRPr lang="en-US" sz="1200" dirty="0"/>
          </a:p>
        </p:txBody>
      </p:sp>
      <p:sp>
        <p:nvSpPr>
          <p:cNvPr id="10" name="Payment Service box"/>
          <p:cNvSpPr/>
          <p:nvPr/>
        </p:nvSpPr>
        <p:spPr>
          <a:xfrm>
            <a:off x="4572000" y="2304288"/>
            <a:ext cx="1737360" cy="512064"/>
          </a:xfrm>
          <a:prstGeom prst="roundRect">
            <a:avLst>
              <a:gd name="adj" fmla="val 14286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" name="Payment Service text"/>
          <p:cNvSpPr txBox="1"/>
          <p:nvPr/>
        </p:nvSpPr>
        <p:spPr>
          <a:xfrm>
            <a:off x="4572000" y="2304288"/>
            <a:ext cx="17373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Payment Service</a:t>
            </a:r>
            <a:endParaRPr lang="en-US" sz="1200" dirty="0"/>
          </a:p>
        </p:txBody>
      </p:sp>
      <p:sp>
        <p:nvSpPr>
          <p:cNvPr id="12" name="Inventory Service box"/>
          <p:cNvSpPr/>
          <p:nvPr/>
        </p:nvSpPr>
        <p:spPr>
          <a:xfrm>
            <a:off x="4572000" y="3035808"/>
            <a:ext cx="1737360" cy="512064"/>
          </a:xfrm>
          <a:prstGeom prst="roundRect">
            <a:avLst>
              <a:gd name="adj" fmla="val 14286"/>
            </a:avLst>
          </a:prstGeom>
          <a:solidFill>
            <a:schemeClr val="accent4">
              <a:alpha val="12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3" name="Inventory Service text"/>
          <p:cNvSpPr txBox="1"/>
          <p:nvPr/>
        </p:nvSpPr>
        <p:spPr>
          <a:xfrm>
            <a:off x="4572000" y="3035808"/>
            <a:ext cx="17373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Inventory Service</a:t>
            </a:r>
            <a:endParaRPr lang="en-US" sz="1200" dirty="0"/>
          </a:p>
        </p:txBody>
      </p:sp>
      <p:sp>
        <p:nvSpPr>
          <p:cNvPr id="14" name="Notification Service box"/>
          <p:cNvSpPr/>
          <p:nvPr/>
        </p:nvSpPr>
        <p:spPr>
          <a:xfrm>
            <a:off x="4572000" y="3767328"/>
            <a:ext cx="1737360" cy="512064"/>
          </a:xfrm>
          <a:prstGeom prst="roundRect">
            <a:avLst>
              <a:gd name="adj" fmla="val 14286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5" name="Notification Service text"/>
          <p:cNvSpPr txBox="1"/>
          <p:nvPr/>
        </p:nvSpPr>
        <p:spPr>
          <a:xfrm>
            <a:off x="4572000" y="3767328"/>
            <a:ext cx="17373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Notification Service</a:t>
            </a:r>
            <a:endParaRPr lang="en-US" sz="1200" dirty="0"/>
          </a:p>
        </p:txBody>
      </p:sp>
      <p:sp>
        <p:nvSpPr>
          <p:cNvPr id="16" name="Topic order-created box"/>
          <p:cNvSpPr/>
          <p:nvPr/>
        </p:nvSpPr>
        <p:spPr>
          <a:xfrm>
            <a:off x="7040880" y="201168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opic order-created text"/>
          <p:cNvSpPr txBox="1"/>
          <p:nvPr/>
        </p:nvSpPr>
        <p:spPr>
          <a:xfrm>
            <a:off x="704088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order-created</a:t>
            </a:r>
            <a:endParaRPr lang="en-US" sz="1100" dirty="0"/>
          </a:p>
        </p:txBody>
      </p:sp>
      <p:sp>
        <p:nvSpPr>
          <p:cNvPr id="18" name="Publish order-created"/>
          <p:cNvSpPr/>
          <p:nvPr/>
        </p:nvSpPr>
        <p:spPr>
          <a:xfrm>
            <a:off x="6355080" y="1874520"/>
            <a:ext cx="640080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Consume order-created"/>
          <p:cNvSpPr/>
          <p:nvPr/>
        </p:nvSpPr>
        <p:spPr>
          <a:xfrm flipH="1">
            <a:off x="6355080" y="2212848"/>
            <a:ext cx="640080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Topic payment-approved box"/>
          <p:cNvSpPr/>
          <p:nvPr/>
        </p:nvSpPr>
        <p:spPr>
          <a:xfrm>
            <a:off x="7040880" y="274320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Topic payment-approved text"/>
          <p:cNvSpPr txBox="1"/>
          <p:nvPr/>
        </p:nvSpPr>
        <p:spPr>
          <a:xfrm>
            <a:off x="704088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payment-approved</a:t>
            </a:r>
            <a:endParaRPr lang="en-US" sz="1100" dirty="0"/>
          </a:p>
        </p:txBody>
      </p:sp>
      <p:sp>
        <p:nvSpPr>
          <p:cNvPr id="22" name="Publish payment-approved"/>
          <p:cNvSpPr/>
          <p:nvPr/>
        </p:nvSpPr>
        <p:spPr>
          <a:xfrm>
            <a:off x="6355080" y="2606040"/>
            <a:ext cx="640080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Consume payment-approved"/>
          <p:cNvSpPr/>
          <p:nvPr/>
        </p:nvSpPr>
        <p:spPr>
          <a:xfrm flipH="1">
            <a:off x="6355080" y="2944368"/>
            <a:ext cx="640080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Topic inventory-updated box"/>
          <p:cNvSpPr/>
          <p:nvPr/>
        </p:nvSpPr>
        <p:spPr>
          <a:xfrm>
            <a:off x="7040880" y="3474720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opic inventory-updated text"/>
          <p:cNvSpPr txBox="1"/>
          <p:nvPr/>
        </p:nvSpPr>
        <p:spPr>
          <a:xfrm>
            <a:off x="704088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inventory-updated</a:t>
            </a:r>
            <a:endParaRPr lang="en-US" sz="1100" dirty="0"/>
          </a:p>
        </p:txBody>
      </p:sp>
      <p:sp>
        <p:nvSpPr>
          <p:cNvPr id="26" name="Publish inventory-updated"/>
          <p:cNvSpPr/>
          <p:nvPr/>
        </p:nvSpPr>
        <p:spPr>
          <a:xfrm>
            <a:off x="6355080" y="3337560"/>
            <a:ext cx="640080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Consume inventory-updated"/>
          <p:cNvSpPr/>
          <p:nvPr/>
        </p:nvSpPr>
        <p:spPr>
          <a:xfrm flipH="1">
            <a:off x="6355080" y="3675888"/>
            <a:ext cx="640080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Analytics box"/>
          <p:cNvSpPr/>
          <p:nvPr/>
        </p:nvSpPr>
        <p:spPr>
          <a:xfrm>
            <a:off x="6949440" y="4389120"/>
            <a:ext cx="173736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9" name="Analytics text"/>
          <p:cNvSpPr txBox="1"/>
          <p:nvPr/>
        </p:nvSpPr>
        <p:spPr>
          <a:xfrm>
            <a:off x="6949440" y="43891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Analytics (added later)</a:t>
            </a:r>
            <a:endParaRPr lang="en-US" sz="1000" dirty="0"/>
          </a:p>
        </p:txBody>
      </p:sp>
      <p:sp>
        <p:nvSpPr>
          <p:cNvPr id="30" name="Analytics arrow"/>
          <p:cNvSpPr/>
          <p:nvPr/>
        </p:nvSpPr>
        <p:spPr>
          <a:xfrm>
            <a:off x="7818120" y="4261104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microservices + events?</a:t>
            </a:r>
            <a:endParaRPr lang="en-US" sz="3200" dirty="0"/>
          </a:p>
        </p:txBody>
      </p:sp>
      <p:sp>
        <p:nvSpPr>
          <p:cNvPr id="3" name="Responsiveness card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accent2">
              <a:alpha val="10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" name="Responsiveness heading"/>
          <p:cNvSpPr txBox="1"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Responsiveness</a:t>
            </a:r>
            <a:endParaRPr lang="en-US" sz="1800" dirty="0"/>
          </a:p>
        </p:txBody>
      </p:sp>
      <p:sp>
        <p:nvSpPr>
          <p:cNvPr id="5" name="Responsiveness benefit"/>
          <p:cNvSpPr txBox="1"/>
          <p:nvPr/>
        </p:nvSpPr>
        <p:spPr>
          <a:xfrm>
            <a:off x="640080" y="16276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Asynchronous processing lets the request finish without waiting for every downstream step.</a:t>
            </a:r>
            <a:endParaRPr lang="en-US" sz="1300" dirty="0"/>
          </a:p>
        </p:txBody>
      </p:sp>
      <p:sp>
        <p:nvSpPr>
          <p:cNvPr id="6" name="Responsiveness example"/>
          <p:cNvSpPr txBox="1"/>
          <p:nvPr/>
        </p:nvSpPr>
        <p:spPr>
          <a:xfrm>
            <a:off x="640080" y="22585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POST /orders returns once the order is saved and the event is published.</a:t>
            </a:r>
            <a:endParaRPr lang="en-US" sz="1200" dirty="0"/>
          </a:p>
        </p:txBody>
      </p:sp>
      <p:sp>
        <p:nvSpPr>
          <p:cNvPr id="7" name="Fault isolation card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accent3">
              <a:alpha val="10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8" name="Fault isolation heading"/>
          <p:cNvSpPr txBox="1"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Fault isolation</a:t>
            </a:r>
            <a:endParaRPr lang="en-US" sz="1800" dirty="0"/>
          </a:p>
        </p:txBody>
      </p:sp>
      <p:sp>
        <p:nvSpPr>
          <p:cNvPr id="9" name="Fault isolation benefit"/>
          <p:cNvSpPr txBox="1"/>
          <p:nvPr/>
        </p:nvSpPr>
        <p:spPr>
          <a:xfrm>
            <a:off x="4846320" y="16276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Independent services limit the impact of failures; events keep processing going.</a:t>
            </a:r>
            <a:endParaRPr lang="en-US" sz="1300" dirty="0"/>
          </a:p>
        </p:txBody>
      </p:sp>
      <p:sp>
        <p:nvSpPr>
          <p:cNvPr id="10" name="Fault isolation example"/>
          <p:cNvSpPr txBox="1"/>
          <p:nvPr/>
        </p:nvSpPr>
        <p:spPr>
          <a:xfrm>
            <a:off x="4846320" y="22585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If Notification is down, orders are still accepted and confirmations go out after recovery.</a:t>
            </a:r>
            <a:endParaRPr lang="en-US" sz="1200" dirty="0"/>
          </a:p>
        </p:txBody>
      </p:sp>
      <p:sp>
        <p:nvSpPr>
          <p:cNvPr id="11" name="Scalability card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accent4">
              <a:alpha val="10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Scalability heading"/>
          <p:cNvSpPr txBox="1"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Scalability</a:t>
            </a:r>
            <a:endParaRPr lang="en-US" sz="1800" dirty="0"/>
          </a:p>
        </p:txBody>
      </p:sp>
      <p:sp>
        <p:nvSpPr>
          <p:cNvPr id="13" name="Scalability benefit"/>
          <p:cNvSpPr txBox="1"/>
          <p:nvPr/>
        </p:nvSpPr>
        <p:spPr>
          <a:xfrm>
            <a:off x="640080" y="34107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Services such as Payment or Inventory scale independently with their workload.</a:t>
            </a:r>
            <a:endParaRPr lang="en-US" sz="1300" dirty="0"/>
          </a:p>
        </p:txBody>
      </p:sp>
      <p:sp>
        <p:nvSpPr>
          <p:cNvPr id="14" name="Scalability example"/>
          <p:cNvSpPr txBox="1"/>
          <p:nvPr/>
        </p:nvSpPr>
        <p:spPr>
          <a:xfrm>
            <a:off x="640080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Run more Payment instances in the same consumer group; nothing else changes.</a:t>
            </a:r>
            <a:endParaRPr lang="en-US" sz="1200" dirty="0"/>
          </a:p>
        </p:txBody>
      </p:sp>
      <p:sp>
        <p:nvSpPr>
          <p:cNvPr id="15" name="Modifiability card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6" name="Modifiability heading"/>
          <p:cNvSpPr txBox="1"/>
          <p:nvPr/>
        </p:nvSpPr>
        <p:spPr>
          <a:xfrm>
            <a:off x="48463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Modifiability</a:t>
            </a:r>
            <a:endParaRPr lang="en-US" sz="1800" dirty="0"/>
          </a:p>
        </p:txBody>
      </p:sp>
      <p:sp>
        <p:nvSpPr>
          <p:cNvPr id="17" name="Modifiability benefit"/>
          <p:cNvSpPr txBox="1"/>
          <p:nvPr/>
        </p:nvSpPr>
        <p:spPr>
          <a:xfrm>
            <a:off x="4846320" y="34107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Services evolve independently, and new consumers can be added without changing producers.</a:t>
            </a:r>
            <a:endParaRPr lang="en-US" sz="1300" dirty="0"/>
          </a:p>
        </p:txBody>
      </p:sp>
      <p:sp>
        <p:nvSpPr>
          <p:cNvPr id="18" name="Modifiability example"/>
          <p:cNvSpPr txBox="1"/>
          <p:nvPr/>
        </p:nvSpPr>
        <p:spPr>
          <a:xfrm>
            <a:off x="4846320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Analytics subscribes to existing topics with no change to the Order Service.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Trade-offs and how we reduce them</a:t>
            </a:r>
            <a:endParaRPr lang="en-US" sz="3200" dirty="0"/>
          </a:p>
        </p:txBody>
      </p:sp>
      <p:graphicFrame>
        <p:nvGraphicFramePr>
          <p:cNvPr id="7" name="Trade-off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Trade-off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happens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we reduce it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Eventual consistency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Customer gets "order received" at once; payment and stock finish a moment later, so status is briefly "pending".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Show the order status clearly: saved, confirmed, paid.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 single transaction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If payment succeeds but the item is out of stock, nothing is undone automatically.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Saga: compensating events such as "cancel order" and "refund payment".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Harder debugging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order passes through four services, so no single place shows what happened.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Correlation ID and tracing: tag each order and follow it across services.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More infrastructure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You run Kafka plus four services instead of one application.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Run everything in containers on Kubernetes.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Summary</a:t>
            </a:r>
            <a:endParaRPr lang="en-US" sz="3200" dirty="0"/>
          </a:p>
        </p:txBody>
      </p:sp>
      <p:sp>
        <p:nvSpPr>
          <p:cNvPr id="3" name="Problem tag"/>
          <p:cNvSpPr/>
          <p:nvPr/>
        </p:nvSpPr>
        <p:spPr>
          <a:xfrm>
            <a:off x="457200" y="1234440"/>
            <a:ext cx="155448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Problem tag text"/>
          <p:cNvSpPr txBox="1"/>
          <p:nvPr/>
        </p:nvSpPr>
        <p:spPr>
          <a:xfrm>
            <a:off x="457200" y="1234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Problem</a:t>
            </a:r>
            <a:endParaRPr lang="en-US" sz="1800" dirty="0"/>
          </a:p>
        </p:txBody>
      </p:sp>
      <p:sp>
        <p:nvSpPr>
          <p:cNvPr id="5" name="Problem text"/>
          <p:cNvSpPr txBox="1"/>
          <p:nvPr/>
        </p:nvSpPr>
        <p:spPr>
          <a:xfrm>
            <a:off x="2240280" y="123444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Synchronous order processing creates blocking dependencies and tightly couples services.</a:t>
            </a:r>
            <a:endParaRPr lang="en-US" sz="1500" dirty="0"/>
          </a:p>
        </p:txBody>
      </p:sp>
      <p:sp>
        <p:nvSpPr>
          <p:cNvPr id="6" name="Pattern tag"/>
          <p:cNvSpPr/>
          <p:nvPr/>
        </p:nvSpPr>
        <p:spPr>
          <a:xfrm>
            <a:off x="457200" y="2057400"/>
            <a:ext cx="155448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Pattern tag text"/>
          <p:cNvSpPr txBox="1"/>
          <p:nvPr/>
        </p:nvSpPr>
        <p:spPr>
          <a:xfrm>
            <a:off x="457200" y="2057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Pattern</a:t>
            </a:r>
            <a:endParaRPr lang="en-US" sz="1800" dirty="0"/>
          </a:p>
        </p:txBody>
      </p:sp>
      <p:sp>
        <p:nvSpPr>
          <p:cNvPr id="8" name="Pattern text"/>
          <p:cNvSpPr txBox="1"/>
          <p:nvPr/>
        </p:nvSpPr>
        <p:spPr>
          <a:xfrm>
            <a:off x="2240280" y="205740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Microservices + Event-Driven Architecture.</a:t>
            </a:r>
            <a:endParaRPr lang="en-US" sz="1500" dirty="0"/>
          </a:p>
        </p:txBody>
      </p:sp>
      <p:sp>
        <p:nvSpPr>
          <p:cNvPr id="9" name="Solution tag"/>
          <p:cNvSpPr/>
          <p:nvPr/>
        </p:nvSpPr>
        <p:spPr>
          <a:xfrm>
            <a:off x="457200" y="2880360"/>
            <a:ext cx="155448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olution tag text"/>
          <p:cNvSpPr txBox="1"/>
          <p:nvPr/>
        </p:nvSpPr>
        <p:spPr>
          <a:xfrm>
            <a:off x="457200" y="2880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Solution</a:t>
            </a:r>
            <a:endParaRPr lang="en-US" sz="1800" dirty="0"/>
          </a:p>
        </p:txBody>
      </p:sp>
      <p:sp>
        <p:nvSpPr>
          <p:cNvPr id="11" name="Solution text"/>
          <p:cNvSpPr txBox="1"/>
          <p:nvPr/>
        </p:nvSpPr>
        <p:spPr>
          <a:xfrm>
            <a:off x="2240280" y="288036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Independently deployable services that communicate asynchronously through Kafka events.</a:t>
            </a:r>
            <a:endParaRPr lang="en-US" sz="1500" dirty="0"/>
          </a:p>
        </p:txBody>
      </p:sp>
      <p:sp>
        <p:nvSpPr>
          <p:cNvPr id="12" name="Why tag"/>
          <p:cNvSpPr/>
          <p:nvPr/>
        </p:nvSpPr>
        <p:spPr>
          <a:xfrm>
            <a:off x="457200" y="3703320"/>
            <a:ext cx="155448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Why tag text"/>
          <p:cNvSpPr txBox="1"/>
          <p:nvPr/>
        </p:nvSpPr>
        <p:spPr>
          <a:xfrm>
            <a:off x="457200" y="3703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Why</a:t>
            </a:r>
            <a:endParaRPr lang="en-US" sz="1800" dirty="0"/>
          </a:p>
        </p:txBody>
      </p:sp>
      <p:sp>
        <p:nvSpPr>
          <p:cNvPr id="14" name="Why text"/>
          <p:cNvSpPr txBox="1"/>
          <p:nvPr/>
        </p:nvSpPr>
        <p:spPr>
          <a:xfrm>
            <a:off x="2240280" y="370332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Independent services + asynchronous communication give responsiveness, fault isolation, scalability and modifiability.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ent Stream">
  <a:themeElements>
    <a:clrScheme name="Event Stream">
      <a:dk1>
        <a:srgbClr val="1B2433"/>
      </a:dk1>
      <a:lt1>
        <a:srgbClr val="FFFFFF"/>
      </a:lt1>
      <a:dk2>
        <a:srgbClr val="334155"/>
      </a:dk2>
      <a:lt2>
        <a:srgbClr val="F1F5F9"/>
      </a:lt2>
      <a:accent1>
        <a:srgbClr val="D97706"/>
      </a:accent1>
      <a:accent2>
        <a:srgbClr val="2563EB"/>
      </a:accent2>
      <a:accent3>
        <a:srgbClr val="16A34A"/>
      </a:accent3>
      <a:accent4>
        <a:srgbClr val="7C3AED"/>
      </a:accent4>
      <a:accent5>
        <a:srgbClr val="DB2777"/>
      </a:accent5>
      <a:accent6>
        <a:srgbClr val="64748B"/>
      </a:accent6>
      <a:hlink>
        <a:srgbClr val="2563EB"/>
      </a:hlink>
      <a:folHlink>
        <a:srgbClr val="7C3AED"/>
      </a:folHlink>
    </a:clrScheme>
    <a:fontScheme name="Event Strea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Ordering System - Event-Driven Microservices</dc:title>
  <dc:subject>PptxGenJS Presentation</dc:subject>
  <dc:creator>PptxGenJS</dc:creator>
  <cp:lastModifiedBy>PptxGenJS</cp:lastModifiedBy>
  <cp:revision>1</cp:revision>
  <dcterms:created xsi:type="dcterms:W3CDTF">2026-10-06T11:00:19Z</dcterms:created>
  <dcterms:modified xsi:type="dcterms:W3CDTF">2026-10-06T11:00:19Z</dcterms:modified>
</cp:coreProperties>
</file>